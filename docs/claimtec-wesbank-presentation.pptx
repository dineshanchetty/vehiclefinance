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30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08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0691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0E3535"/>
          </a:solidFill>
          <a:ln w="12700">
            <a:solidFill>
              <a:srgbClr val="0E3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669280"/>
            <a:ext cx="12188952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r>
              <a:rPr lang="en-US" sz="2600" b="1" kern="0" spc="1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82396" y="502920"/>
            <a:ext cx="64008" cy="640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2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software for institutions that can't afford to fail.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private vehicle deals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minutes, not days.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Claimtec's AI-assisted WhatsApp + dashboard solution captures the buyer, verifies documents, inspects the vehicle, and submits a fundable deal to bank — without a branch visit, without a laptop, and without a single chase email.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briefing · May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Executive Committee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1D5D5"/>
          </a:solidFill>
          <a:ln w="12700">
            <a:solidFill>
              <a:srgbClr val="D1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deals lose 60% of buyers between handshake and disbursement.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91440" cy="214884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700784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7–10 days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24048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offer to payout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2491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chases bank, bank chases dealer, deal cools. Half of OTPs lapse before disbursement.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36192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0" y="1536192"/>
            <a:ext cx="91440" cy="214884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700784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documents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92240" y="24048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requested &amp; re-requested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272491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OTP, ID, POA, 3× bank statements, vehicle photos, roadworthy, change-of-ownership… via email and WhatsApp.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13632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913632"/>
            <a:ext cx="91440" cy="2148840"/>
          </a:xfrm>
          <a:prstGeom prst="rect">
            <a:avLst/>
          </a:prstGeom>
          <a:solidFill>
            <a:srgbClr val="13404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31520" y="47823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Drop-off after first request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510235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abandon the moment the friction outweighs perceived progress. No branch visit will save 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913632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3913632"/>
            <a:ext cx="91440" cy="2148840"/>
          </a:xfrm>
          <a:prstGeom prst="rect">
            <a:avLst/>
          </a:prstGeom>
          <a:solidFill>
            <a:srgbClr val="0E35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92240" y="4078224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492240" y="47823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into seller side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510235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sees the buyer side only. The seller — and the asset — is a black box until the file lands.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bank Private Deal funnel analysis 2024 — buyer-reported drop-off causes.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34040"/>
          </a:solidFill>
          <a:ln w="12700">
            <a:solidFill>
              <a:srgbClr val="13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Claimtec · Private Deal AI-assisted finance assistant for bank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6019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1D5D5"/>
          </a:solidFill>
          <a:ln w="12700">
            <a:solidFill>
              <a:srgbClr val="D1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WhatsApp number. One dashboard. The whole deal — start to disbursement.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606040" cy="4709160"/>
          </a:xfrm>
          <a:prstGeom prst="roundRect">
            <a:avLst>
              <a:gd name="adj" fmla="val 8772"/>
            </a:avLst>
          </a:prstGeom>
          <a:solidFill>
            <a:srgbClr val="000000"/>
          </a:solidFill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627632"/>
            <a:ext cx="2395728" cy="4334256"/>
          </a:xfrm>
          <a:prstGeom prst="rect">
            <a:avLst/>
          </a:prstGeom>
          <a:solidFill>
            <a:srgbClr val="0B141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62763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9:24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606040" y="162763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 4G ▪︎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749808" y="1801368"/>
            <a:ext cx="2395728" cy="384048"/>
          </a:xfrm>
          <a:prstGeom prst="rect">
            <a:avLst/>
          </a:prstGeom>
          <a:solidFill>
            <a:srgbClr val="202C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801368"/>
            <a:ext cx="164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1865376"/>
            <a:ext cx="256032" cy="256032"/>
          </a:xfrm>
          <a:prstGeom prst="ellipse">
            <a:avLst/>
          </a:prstGeom>
          <a:solidFill>
            <a:srgbClr val="13404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18653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280160" y="182880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Deal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280160" y="1993392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606040" y="18013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  📞  ⋮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508760" y="2286000"/>
            <a:ext cx="868680" cy="164592"/>
          </a:xfrm>
          <a:prstGeom prst="roundRect">
            <a:avLst>
              <a:gd name="adj" fmla="val 22222"/>
            </a:avLst>
          </a:prstGeom>
          <a:solidFill>
            <a:srgbClr val="202C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2286000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kern="0" spc="10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550" dirty="0"/>
          </a:p>
        </p:txBody>
      </p:sp>
      <p:sp>
        <p:nvSpPr>
          <p:cNvPr id="18" name="Shape 16"/>
          <p:cNvSpPr/>
          <p:nvPr/>
        </p:nvSpPr>
        <p:spPr>
          <a:xfrm>
            <a:off x="804672" y="2542032"/>
            <a:ext cx="1410005" cy="292608"/>
          </a:xfrm>
          <a:prstGeom prst="roundRect">
            <a:avLst>
              <a:gd name="adj" fmla="val 15625"/>
            </a:avLst>
          </a:prstGeom>
          <a:solidFill>
            <a:srgbClr val="202C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9536" y="2551176"/>
            <a:ext cx="1300277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Private Deal 👋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859536" y="2706624"/>
            <a:ext cx="1300277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09:24</a:t>
            </a:r>
            <a:endParaRPr lang="en-US" sz="500" dirty="0"/>
          </a:p>
        </p:txBody>
      </p:sp>
      <p:sp>
        <p:nvSpPr>
          <p:cNvPr id="21" name="Shape 19"/>
          <p:cNvSpPr/>
          <p:nvPr/>
        </p:nvSpPr>
        <p:spPr>
          <a:xfrm>
            <a:off x="804672" y="2880360"/>
            <a:ext cx="1691640" cy="292608"/>
          </a:xfrm>
          <a:prstGeom prst="roundRect">
            <a:avLst>
              <a:gd name="adj" fmla="val 15625"/>
            </a:avLst>
          </a:prstGeom>
          <a:solidFill>
            <a:srgbClr val="202C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59536" y="2889504"/>
            <a:ext cx="15819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POPIA consent required to continue. Tap [I agree] to proceed.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859536" y="3044952"/>
            <a:ext cx="15819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09:24</a:t>
            </a:r>
            <a:endParaRPr lang="en-US" sz="500" dirty="0"/>
          </a:p>
        </p:txBody>
      </p:sp>
      <p:sp>
        <p:nvSpPr>
          <p:cNvPr id="24" name="Shape 22"/>
          <p:cNvSpPr/>
          <p:nvPr/>
        </p:nvSpPr>
        <p:spPr>
          <a:xfrm>
            <a:off x="2249424" y="331012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005C4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304288" y="331927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agree ✓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304288" y="3474720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53BD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09:24  ✓✓</a:t>
            </a:r>
            <a:endParaRPr lang="en-US" sz="500" dirty="0"/>
          </a:p>
        </p:txBody>
      </p:sp>
      <p:sp>
        <p:nvSpPr>
          <p:cNvPr id="27" name="Shape 25"/>
          <p:cNvSpPr/>
          <p:nvPr/>
        </p:nvSpPr>
        <p:spPr>
          <a:xfrm>
            <a:off x="804672" y="3648456"/>
            <a:ext cx="1583741" cy="292608"/>
          </a:xfrm>
          <a:prstGeom prst="roundRect">
            <a:avLst>
              <a:gd name="adj" fmla="val 15625"/>
            </a:avLst>
          </a:prstGeom>
          <a:solidFill>
            <a:srgbClr val="202C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59536" y="3657600"/>
            <a:ext cx="1474013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have a signed Offer to Purchase?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859536" y="3813048"/>
            <a:ext cx="147401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09:25</a:t>
            </a:r>
            <a:endParaRPr lang="en-US" sz="500" dirty="0"/>
          </a:p>
        </p:txBody>
      </p:sp>
      <p:sp>
        <p:nvSpPr>
          <p:cNvPr id="30" name="Shape 28"/>
          <p:cNvSpPr/>
          <p:nvPr/>
        </p:nvSpPr>
        <p:spPr>
          <a:xfrm>
            <a:off x="2183587" y="3986784"/>
            <a:ext cx="888797" cy="292608"/>
          </a:xfrm>
          <a:prstGeom prst="roundRect">
            <a:avLst>
              <a:gd name="adj" fmla="val 15625"/>
            </a:avLst>
          </a:prstGeom>
          <a:solidFill>
            <a:srgbClr val="005C4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38451" y="3995928"/>
            <a:ext cx="779069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uploading now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238451" y="4151376"/>
            <a:ext cx="779069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53BD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09:25  ✓✓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2249424" y="4325112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005C4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304288" y="4334256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OTP.pdf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304288" y="4489704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53BD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09:25  ✓✓</a:t>
            </a:r>
            <a:endParaRPr lang="en-US" sz="500" dirty="0"/>
          </a:p>
        </p:txBody>
      </p:sp>
      <p:sp>
        <p:nvSpPr>
          <p:cNvPr id="36" name="Shape 34"/>
          <p:cNvSpPr/>
          <p:nvPr/>
        </p:nvSpPr>
        <p:spPr>
          <a:xfrm>
            <a:off x="804672" y="4663440"/>
            <a:ext cx="1444752" cy="292608"/>
          </a:xfrm>
          <a:prstGeom prst="roundRect">
            <a:avLst>
              <a:gd name="adj" fmla="val 15625"/>
            </a:avLst>
          </a:prstGeom>
          <a:solidFill>
            <a:srgbClr val="202C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59536" y="4672584"/>
            <a:ext cx="133502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VW Golf GTI · R 285 000 confirmed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59536" y="4828032"/>
            <a:ext cx="133502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09:25</a:t>
            </a:r>
            <a:endParaRPr lang="en-US" sz="500" dirty="0"/>
          </a:p>
        </p:txBody>
      </p:sp>
      <p:sp>
        <p:nvSpPr>
          <p:cNvPr id="39" name="Shape 37"/>
          <p:cNvSpPr/>
          <p:nvPr/>
        </p:nvSpPr>
        <p:spPr>
          <a:xfrm>
            <a:off x="804672" y="5001768"/>
            <a:ext cx="1583741" cy="292608"/>
          </a:xfrm>
          <a:prstGeom prst="roundRect">
            <a:avLst>
              <a:gd name="adj" fmla="val 15625"/>
            </a:avLst>
          </a:prstGeom>
          <a:solidFill>
            <a:srgbClr val="202C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59536" y="5010912"/>
            <a:ext cx="1474013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send 3 months of bank statements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859536" y="5166360"/>
            <a:ext cx="147401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09:26</a:t>
            </a:r>
            <a:endParaRPr lang="en-US" sz="500" dirty="0"/>
          </a:p>
        </p:txBody>
      </p:sp>
      <p:sp>
        <p:nvSpPr>
          <p:cNvPr id="42" name="Shape 40"/>
          <p:cNvSpPr/>
          <p:nvPr/>
        </p:nvSpPr>
        <p:spPr>
          <a:xfrm>
            <a:off x="2249424" y="5340096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005C4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304288" y="5349240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statements.zip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2304288" y="5504688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53BD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09:26  ✓✓</a:t>
            </a:r>
            <a:endParaRPr lang="en-US" sz="500" dirty="0"/>
          </a:p>
        </p:txBody>
      </p:sp>
      <p:sp>
        <p:nvSpPr>
          <p:cNvPr id="45" name="Shape 43"/>
          <p:cNvSpPr/>
          <p:nvPr/>
        </p:nvSpPr>
        <p:spPr>
          <a:xfrm>
            <a:off x="749808" y="5687568"/>
            <a:ext cx="2395728" cy="274320"/>
          </a:xfrm>
          <a:prstGeom prst="rect">
            <a:avLst/>
          </a:prstGeom>
          <a:solidFill>
            <a:srgbClr val="202C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68680" y="5733288"/>
            <a:ext cx="1874520" cy="182880"/>
          </a:xfrm>
          <a:prstGeom prst="roundRect">
            <a:avLst>
              <a:gd name="adj" fmla="val 25000"/>
            </a:avLst>
          </a:prstGeom>
          <a:solidFill>
            <a:srgbClr val="2A394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14400" y="573328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  Type a message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2468880" y="5733288"/>
            <a:ext cx="146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816352" y="5724144"/>
            <a:ext cx="201168" cy="201168"/>
          </a:xfrm>
          <a:prstGeom prst="ellipse">
            <a:avLst/>
          </a:prstGeom>
          <a:solidFill>
            <a:srgbClr val="005C4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816352" y="57241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463040" y="6035040"/>
            <a:ext cx="960120" cy="365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0080" y="61996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· WhatsApp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383280" y="3611880"/>
            <a:ext cx="502920" cy="411480"/>
          </a:xfrm>
          <a:prstGeom prst="rightArrow">
            <a:avLst/>
          </a:prstGeom>
          <a:solidFill>
            <a:srgbClr val="13404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291840" y="3246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23360" y="1417320"/>
            <a:ext cx="7680960" cy="4572000"/>
          </a:xfrm>
          <a:prstGeom prst="rect">
            <a:avLst/>
          </a:prstGeom>
          <a:solidFill>
            <a:srgbClr val="001A3D"/>
          </a:solidFill>
          <a:ln w="25400">
            <a:solidFill>
              <a:srgbClr val="0034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023360" y="1417320"/>
            <a:ext cx="7680960" cy="320040"/>
          </a:xfrm>
          <a:prstGeom prst="rect">
            <a:avLst/>
          </a:prstGeom>
          <a:solidFill>
            <a:srgbClr val="0034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16052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 Private Deal Console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023360" y="1737360"/>
            <a:ext cx="1280160" cy="4251960"/>
          </a:xfrm>
          <a:prstGeom prst="rect">
            <a:avLst/>
          </a:prstGeom>
          <a:solidFill>
            <a:srgbClr val="00255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023360" y="1828800"/>
            <a:ext cx="1280160" cy="4572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16052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023360" y="2377440"/>
            <a:ext cx="1280160" cy="457200"/>
          </a:xfrm>
          <a:prstGeom prst="rect">
            <a:avLst/>
          </a:prstGeom>
          <a:solidFill>
            <a:srgbClr val="00255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160520" y="2377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023360" y="2926080"/>
            <a:ext cx="1280160" cy="457200"/>
          </a:xfrm>
          <a:prstGeom prst="rect">
            <a:avLst/>
          </a:prstGeom>
          <a:solidFill>
            <a:srgbClr val="00255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160520" y="2926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Affordability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023360" y="3474720"/>
            <a:ext cx="1280160" cy="457200"/>
          </a:xfrm>
          <a:prstGeom prst="rect">
            <a:avLst/>
          </a:prstGeom>
          <a:solidFill>
            <a:srgbClr val="00255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160520" y="3474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023360" y="4023360"/>
            <a:ext cx="1280160" cy="457200"/>
          </a:xfrm>
          <a:prstGeom prst="rect">
            <a:avLst/>
          </a:prstGeom>
          <a:solidFill>
            <a:srgbClr val="00255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160520" y="4023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023360" y="4572000"/>
            <a:ext cx="1280160" cy="457200"/>
          </a:xfrm>
          <a:prstGeom prst="rect">
            <a:avLst/>
          </a:prstGeom>
          <a:solidFill>
            <a:srgbClr val="00255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160520" y="4572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Disbursement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486400" y="1874520"/>
            <a:ext cx="12801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5486400" y="1874520"/>
            <a:ext cx="1280160" cy="73152"/>
          </a:xfrm>
          <a:prstGeom prst="rect">
            <a:avLst/>
          </a:prstGeom>
          <a:solidFill>
            <a:srgbClr val="0070B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577840" y="2011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577840" y="21945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800" dirty="0"/>
          </a:p>
        </p:txBody>
      </p:sp>
      <p:sp>
        <p:nvSpPr>
          <p:cNvPr id="75" name="Shape 73"/>
          <p:cNvSpPr/>
          <p:nvPr/>
        </p:nvSpPr>
        <p:spPr>
          <a:xfrm>
            <a:off x="6903720" y="1874520"/>
            <a:ext cx="12801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903720" y="1874520"/>
            <a:ext cx="1280160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995160" y="2011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REVIEW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995160" y="21945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00" dirty="0"/>
          </a:p>
        </p:txBody>
      </p:sp>
      <p:sp>
        <p:nvSpPr>
          <p:cNvPr id="79" name="Shape 77"/>
          <p:cNvSpPr/>
          <p:nvPr/>
        </p:nvSpPr>
        <p:spPr>
          <a:xfrm>
            <a:off x="8321040" y="1874520"/>
            <a:ext cx="12801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8321040" y="1874520"/>
            <a:ext cx="1280160" cy="73152"/>
          </a:xfrm>
          <a:prstGeom prst="rect">
            <a:avLst/>
          </a:prstGeom>
          <a:solidFill>
            <a:srgbClr val="2C6E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8412480" y="2011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412480" y="21945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83" name="Shape 81"/>
          <p:cNvSpPr/>
          <p:nvPr/>
        </p:nvSpPr>
        <p:spPr>
          <a:xfrm>
            <a:off x="9738360" y="1874520"/>
            <a:ext cx="12801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9738360" y="1874520"/>
            <a:ext cx="128016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9829800" y="2011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DECLINED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9829800" y="21945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87" name="Shape 85"/>
          <p:cNvSpPr/>
          <p:nvPr/>
        </p:nvSpPr>
        <p:spPr>
          <a:xfrm>
            <a:off x="5486400" y="2926080"/>
            <a:ext cx="6080760" cy="3017520"/>
          </a:xfrm>
          <a:prstGeom prst="rect">
            <a:avLst/>
          </a:prstGeom>
          <a:solidFill>
            <a:srgbClr val="0F1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5623560" y="2971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deal pipeline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5623560" y="3337560"/>
            <a:ext cx="585216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5669280" y="3337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#2461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55080" y="3337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CHETTY, D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7680960" y="3337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 Golf GTI · R285k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9966960" y="33375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7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Affordability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11155680" y="33375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5623560" y="3931920"/>
            <a:ext cx="5852160" cy="502920"/>
          </a:xfrm>
          <a:prstGeom prst="rect">
            <a:avLst/>
          </a:prstGeom>
          <a:solidFill>
            <a:srgbClr val="1529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5669280" y="3931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#2460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55080" y="39319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KHUMALO, S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7680960" y="3931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Toyota Hilux · R420k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9966960" y="3931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7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11155680" y="39319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5623560" y="4526280"/>
            <a:ext cx="5852160" cy="502920"/>
          </a:xfrm>
          <a:prstGeom prst="rect">
            <a:avLst/>
          </a:prstGeom>
          <a:solidFill>
            <a:srgbClr val="1529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5669280" y="4526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#2459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55080" y="45262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NAIDOO, P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7680960" y="4526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3 Series · R510k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9966960" y="45262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7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Disbursing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11155680" y="45262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5623560" y="5120640"/>
            <a:ext cx="5852160" cy="502920"/>
          </a:xfrm>
          <a:prstGeom prst="rect">
            <a:avLst/>
          </a:prstGeom>
          <a:solidFill>
            <a:srgbClr val="1529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5669280" y="5120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#2458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55080" y="51206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MOKOENA, J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7680960" y="5120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 Ranger · R380k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9966960" y="5120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7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side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11155680" y="51206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◷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4023360" y="619963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operator · console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34040"/>
          </a:solidFill>
          <a:ln w="12700">
            <a:solidFill>
              <a:srgbClr val="13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Claimtec · Private Deal AI-assisted finance assistant for bank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10972800" y="66019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1D5D5"/>
          </a:solidFill>
          <a:ln w="12700">
            <a:solidFill>
              <a:srgbClr val="D1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steps. Two actors. Zero branch visits.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0972800" cy="36576"/>
          </a:xfrm>
          <a:prstGeom prst="rect">
            <a:avLst/>
          </a:prstGeom>
          <a:solidFill>
            <a:srgbClr val="D1D5D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502920" cy="502920"/>
          </a:xfrm>
          <a:prstGeom prst="ellipse">
            <a:avLst/>
          </a:prstGeom>
          <a:solidFill>
            <a:srgbClr val="2C6E6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says hi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+27 69 699 2346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49424" y="2514600"/>
            <a:ext cx="502920" cy="502920"/>
          </a:xfrm>
          <a:prstGeom prst="ellipse">
            <a:avLst/>
          </a:prstGeom>
          <a:solidFill>
            <a:srgbClr val="2C6E6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49424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75104" y="1691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POPIA + OTP fork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75104" y="31546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signed OTP? Y/N path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30168" y="2514600"/>
            <a:ext cx="502920" cy="502920"/>
          </a:xfrm>
          <a:prstGeom prst="ellipse">
            <a:avLst/>
          </a:prstGeom>
          <a:solidFill>
            <a:srgbClr val="2C6E6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30168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55848" y="1691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extracted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31546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Vehicle, price, parties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10912" y="2514600"/>
            <a:ext cx="502920" cy="502920"/>
          </a:xfrm>
          <a:prstGeom prst="ellipse">
            <a:avLst/>
          </a:prstGeom>
          <a:solidFill>
            <a:srgbClr val="2C6E6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10912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36592" y="1691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verified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592" y="31546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ID + POA cross-check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91656" y="2514600"/>
            <a:ext cx="502920" cy="502920"/>
          </a:xfrm>
          <a:prstGeom prst="ellipse">
            <a:avLst/>
          </a:prstGeom>
          <a:solidFill>
            <a:srgbClr val="2C6E6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91656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17336" y="1691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Affordability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17336" y="31546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 bank statements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0" y="2514600"/>
            <a:ext cx="502920" cy="502920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98080" y="1691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onboarded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0" y="31546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+ 9 vehicle photos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53144" y="2514600"/>
            <a:ext cx="502920" cy="502920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53144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78824" y="1691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decision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78824" y="31546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Bsnk</a:t>
            </a:r>
            <a:r>
              <a:rPr lang="en-US" sz="9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operator approves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533888" y="2514600"/>
            <a:ext cx="502920" cy="502920"/>
          </a:xfrm>
          <a:prstGeom prst="ellipse">
            <a:avLst/>
          </a:prstGeom>
          <a:solidFill>
            <a:srgbClr val="0E353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533888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259568" y="1691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Disburse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259568" y="31546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bank account paid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02336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LANE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LANE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10412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LANE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297680"/>
            <a:ext cx="6812280" cy="1783080"/>
          </a:xfrm>
          <a:prstGeom prst="rect">
            <a:avLst/>
          </a:prstGeom>
          <a:solidFill>
            <a:srgbClr val="EAF1F1"/>
          </a:solidFill>
          <a:ln w="12700">
            <a:solidFill>
              <a:srgbClr val="2C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315200" y="4297680"/>
            <a:ext cx="2743200" cy="1783080"/>
          </a:xfrm>
          <a:prstGeom prst="rect">
            <a:avLst/>
          </a:prstGeom>
          <a:solidFill>
            <a:srgbClr val="FBEDEE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104120" y="4297680"/>
            <a:ext cx="1600200" cy="1783080"/>
          </a:xfrm>
          <a:prstGeom prst="rect">
            <a:avLst/>
          </a:prstGeom>
          <a:solidFill>
            <a:srgbClr val="EAF1F1"/>
          </a:solidFill>
          <a:ln w="12700">
            <a:solidFill>
              <a:srgbClr val="0E3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94360" y="4434840"/>
            <a:ext cx="6537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side — 4 minutes of typing, 8 documents auto-extracted, 1 tap to submit.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94360" y="5074920"/>
            <a:ext cx="6537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Cross-checks: ID, address, employer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Calculates affordability live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Generates OTP if buyer doesn't have one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452360" y="443484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onboarded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template message.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photos = 360° vehicle view.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241280" y="4434840"/>
            <a:ext cx="1417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click: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Decline /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more info.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34040"/>
          </a:solidFill>
          <a:ln w="12700">
            <a:solidFill>
              <a:srgbClr val="13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Claimtec · Private Deal AI-assisted finance assistant for bank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972800" y="66019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1D5D5"/>
          </a:solidFill>
          <a:ln w="12700">
            <a:solidFill>
              <a:srgbClr val="D1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JOURNEY · DETAIL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"Hi" to "Submitted" — every step the AI handles, every cross-check it runs.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37033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3703320" cy="548640"/>
          </a:xfrm>
          <a:prstGeom prst="rect">
            <a:avLst/>
          </a:prstGeom>
          <a:solidFill>
            <a:srgbClr val="2C6E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3619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Capture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313432"/>
            <a:ext cx="274320" cy="274320"/>
          </a:xfrm>
          <a:prstGeom prst="ellipse">
            <a:avLst/>
          </a:prstGeom>
          <a:solidFill>
            <a:srgbClr val="2C6E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313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26771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sends "Hi"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63347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+ POPIA consent (1 tap)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3639312"/>
            <a:ext cx="274320" cy="274320"/>
          </a:xfrm>
          <a:prstGeom prst="ellipse">
            <a:avLst/>
          </a:prstGeom>
          <a:solidFill>
            <a:srgbClr val="2C6E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639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35935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 you have a signed OTP?"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395935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upload · No → guided OTP capture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4965192"/>
            <a:ext cx="274320" cy="274320"/>
          </a:xfrm>
          <a:prstGeom prst="ellipse">
            <a:avLst/>
          </a:prstGeom>
          <a:solidFill>
            <a:srgbClr val="2C6E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4965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491947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PDF extracted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528523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Buyer, seller, vehicle, price, VIN — read back for confirmation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1536192"/>
            <a:ext cx="37033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43400" y="1536192"/>
            <a:ext cx="3703320" cy="548640"/>
          </a:xfrm>
          <a:prstGeom prst="rect">
            <a:avLst/>
          </a:prstGeom>
          <a:solidFill>
            <a:srgbClr val="0E35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26280" y="153619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Verify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153619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min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313432"/>
            <a:ext cx="274320" cy="274320"/>
          </a:xfrm>
          <a:prstGeom prst="ellipse">
            <a:avLst/>
          </a:prstGeom>
          <a:solidFill>
            <a:srgbClr val="0E35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0" y="2313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226771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ID uploaded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263347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ID# matches OTP buyer ✓ Face match ✓ Doc authenticity 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639312"/>
            <a:ext cx="274320" cy="274320"/>
          </a:xfrm>
          <a:prstGeom prst="ellipse">
            <a:avLst/>
          </a:prstGeom>
          <a:solidFill>
            <a:srgbClr val="0E35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0" y="3639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5935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address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95935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≤ 90 days ✓ Account holder = buyer 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4965192"/>
            <a:ext cx="274320" cy="274320"/>
          </a:xfrm>
          <a:prstGeom prst="ellipse">
            <a:avLst/>
          </a:prstGeom>
          <a:solidFill>
            <a:srgbClr val="0E35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0" y="4965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91947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 bank statements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528523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holder ✓ Salary detected ✓ Disposable income calculated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29600" y="1536192"/>
            <a:ext cx="37033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229600" y="1536192"/>
            <a:ext cx="3703320" cy="54864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412480" y="153619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Decide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412480" y="153619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min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458200" y="2313432"/>
            <a:ext cx="274320" cy="2743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458200" y="2313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823960" y="226771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Affordability shown to buyer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823960" y="263347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→ submit · Fail → see "cars within budget"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458200" y="3639312"/>
            <a:ext cx="274320" cy="2743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458200" y="3639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823960" y="35935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cars.co.za alternatives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823960" y="395935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deep-links in price band (declined-deal recovery)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458200" y="4965192"/>
            <a:ext cx="274320" cy="2743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458200" y="4965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823960" y="491947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submitted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823960" y="528523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 on bank dashboard — fully packaged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34040"/>
          </a:solidFill>
          <a:ln w="12700">
            <a:solidFill>
              <a:srgbClr val="13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Claimtec · Private Deal AI-assisted finance assistant for bank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972800" y="66019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1D5D5"/>
          </a:solidFill>
          <a:ln w="12700">
            <a:solidFill>
              <a:srgbClr val="D1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REMOVES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high-friction tasks, now handled in the background.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7033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594360" cy="5943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6642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◳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+ structured extraction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OTP, ID, POA, statements parsed into fields in 3–5 sec each. No human typing.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document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43400" y="146304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43400" y="1463040"/>
            <a:ext cx="3703320" cy="73152"/>
          </a:xfrm>
          <a:prstGeom prst="rect">
            <a:avLst/>
          </a:prstGeom>
          <a:solidFill>
            <a:srgbClr val="0E35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1691640"/>
            <a:ext cx="594360" cy="594360"/>
          </a:xfrm>
          <a:prstGeom prst="ellipse">
            <a:avLst/>
          </a:prstGeom>
          <a:solidFill>
            <a:srgbClr val="0E35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16642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57800" y="16916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Cross-document validation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0116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 + LLM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242316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ID# on OTP = ID# on SA ID = ID# on statements. Address fresh ≤ 90 days. Mismatches surface instantly.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3337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upload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229600" y="146304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9600" y="1463040"/>
            <a:ext cx="3703320" cy="73152"/>
          </a:xfrm>
          <a:prstGeom prst="rect">
            <a:avLst/>
          </a:prstGeom>
          <a:solidFill>
            <a:srgbClr val="2C6E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458200" y="1691640"/>
            <a:ext cx="594360" cy="594360"/>
          </a:xfrm>
          <a:prstGeom prst="ellipse">
            <a:avLst/>
          </a:prstGeom>
          <a:solidFill>
            <a:srgbClr val="2C6E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58200" y="16642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0" y="16916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Affordability calculation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0" y="20116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C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analyser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58200" y="242316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salary, expense pattern, disposable income, safe-instalment @ 30% — auto-graded against vehicle price.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58200" y="3337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buyer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37033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5800" y="4114800"/>
            <a:ext cx="594360" cy="5943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5800" y="4087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371600" y="41148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angle classification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484632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9-angle 360° view auto-sorted from a single WhatsApp batch — front / rear / side / interior / engine / odometer.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" y="57607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photo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343400" y="388620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343400" y="3886200"/>
            <a:ext cx="37033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72000" y="4114800"/>
            <a:ext cx="594360" cy="5943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0" y="4087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⤷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257800" y="41148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decline recovery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57800" y="44348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vehicle deep-link composer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0" y="484632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who fails affordability immediately sees 3–5 real listings within their budget — recovers ~12% of lost deals.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0" y="57607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declined deal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229600" y="388620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229600" y="3886200"/>
            <a:ext cx="3703320" cy="73152"/>
          </a:xfrm>
          <a:prstGeom prst="rect">
            <a:avLst/>
          </a:prstGeom>
          <a:solidFill>
            <a:srgbClr val="2C6E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458200" y="4114800"/>
            <a:ext cx="594360" cy="594360"/>
          </a:xfrm>
          <a:prstGeom prst="ellipse">
            <a:avLst/>
          </a:prstGeom>
          <a:solidFill>
            <a:srgbClr val="2C6E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458200" y="4087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9144000" y="41148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generation (no-OTP path)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44000" y="44348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C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+ e-sign workflow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458200" y="484632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captures vehicle + seller details via guided chat → draft OTP PDF → seller signs and returns.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458200" y="57607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buyer without OTP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34040"/>
          </a:solidFill>
          <a:ln w="12700">
            <a:solidFill>
              <a:srgbClr val="13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Claimtec · Private Deal AI-assisted finance assistant for bank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972800" y="66019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1D5D5"/>
          </a:solidFill>
          <a:ln w="12700">
            <a:solidFill>
              <a:srgbClr val="D1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OPTIMISING THE TIERED 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7-day workflow collapses into a same-day pipeline.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937760"/>
          </a:xfrm>
          <a:prstGeom prst="rect">
            <a:avLst/>
          </a:prstGeom>
          <a:solidFill>
            <a:srgbClr val="FBEDEE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39496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 days · ~14 touches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2103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emails branch with OTP scan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61518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6151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requests ID + POA via email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272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31272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sends, branch logs into core system, captures by hand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63931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363931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requests bank statements; buyer ignores for a 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1513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41513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Statements sent; affordability calculated in spreadsheet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80160" y="4663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contacts seller for ID + vehicle photos via email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51755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517550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documents land; underwriter reviews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56875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80160" y="56875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made; disbursement coordinated by phone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3611880"/>
            <a:ext cx="411480" cy="502920"/>
          </a:xfrm>
          <a:prstGeom prst="rightArrow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83680" y="1417320"/>
            <a:ext cx="5166360" cy="4937760"/>
          </a:xfrm>
          <a:prstGeom prst="rect">
            <a:avLst/>
          </a:prstGeom>
          <a:solidFill>
            <a:srgbClr val="EAF1F1"/>
          </a:solidFill>
          <a:ln w="12700">
            <a:solidFill>
              <a:srgbClr val="2C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83680" y="1417320"/>
            <a:ext cx="5166360" cy="502920"/>
          </a:xfrm>
          <a:prstGeom prst="rect">
            <a:avLst/>
          </a:prstGeom>
          <a:solidFill>
            <a:srgbClr val="2C6E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66560" y="1417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CLAIMTEC PRIVATE DEAL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14173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day · 2 touches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2103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messages WhatsApp; bot greets in 2 sec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261518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0" y="261518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uploaded; vehicle + price + parties extracted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312724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0" y="3127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+ POA verified; cross-checks pass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363931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36393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 statements parsed; affordability shown to buyer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0" y="415137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0" y="41513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submits — full file on bank dashboard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66560" y="46634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72400" y="4663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receives WhatsApp; uploads ID + 9 photos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66560" y="517550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72400" y="517550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clicks Approve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66560" y="568756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0" y="56875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Disbursement triggered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34040"/>
          </a:solidFill>
          <a:ln w="12700">
            <a:solidFill>
              <a:srgbClr val="13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Claimtec · Private Deal AI-assisted finance assistant for bank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72800" y="66019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1D5D5"/>
          </a:solidFill>
          <a:ln w="12700">
            <a:solidFill>
              <a:srgbClr val="D1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 DEAL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mechanisms that move the buyer over the line — and bring them back if they stall.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338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097280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783080" y="15544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momentum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83080" y="18745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"we'll get back to you tomorrow". Bot processes every upload in seconds and tells the buyer what's next. Stalling drops from days to minutes.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1338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1097280" cy="868680"/>
          </a:xfrm>
          <a:prstGeom prst="rect">
            <a:avLst/>
          </a:prstGeom>
          <a:solidFill>
            <a:srgbClr val="2C6E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783080" y="25146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Affordability transparency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83080" y="28346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sees their own numbers — disposable income, safe instalment, fit-to-vehicle. Removes the "black box" rejection feeling and builds trust before submission.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11338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1097280" cy="868680"/>
          </a:xfrm>
          <a:prstGeom prst="rect">
            <a:avLst/>
          </a:prstGeom>
          <a:solidFill>
            <a:srgbClr val="0E35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783080" y="34747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 recovery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83080" y="37947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affordability fails, bot immediately surfaces 3–5 cars.co.za listings within budget. Buyer doesn't leave the funnel — they switch lanes inside 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11338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1097280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34340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783080" y="44348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generation for unprepared buyers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83080" y="47548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private deals stall because the buyer hasn't signed an OTP. Bot captures the details and generates a draft OTP in chat — buyer prints, signs with seller, resumes.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303520"/>
            <a:ext cx="11338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5303520"/>
            <a:ext cx="1097280" cy="868680"/>
          </a:xfrm>
          <a:prstGeom prst="rect">
            <a:avLst/>
          </a:prstGeom>
          <a:solidFill>
            <a:srgbClr val="2C6E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53035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783080" y="53949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Seller-side visibility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783080" y="57150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first time, bank sees the seller, the vehicle, the photos. De-risks the deal AND removes the buyer's biggest fear: "will the seller cooperate?"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34040"/>
          </a:solidFill>
          <a:ln w="12700">
            <a:solidFill>
              <a:srgbClr val="13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Claimtec · Private Deal AI-assisted finance assistant for bank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6019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1D5D5"/>
          </a:solidFill>
          <a:ln w="12700">
            <a:solidFill>
              <a:srgbClr val="D1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THAT MATTER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 impact on a portfolio of 4 000 private deals / year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73152" cy="21031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time-to-decision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days → &lt; 1 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73152" cy="2103120"/>
          </a:xfrm>
          <a:prstGeom prst="rect">
            <a:avLst/>
          </a:prstGeom>
          <a:solidFill>
            <a:srgbClr val="2C6E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192024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C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572000" y="28803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funded deals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32461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 drop-offs + decline-path conversion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0" y="1783080"/>
            <a:ext cx="73152" cy="2103120"/>
          </a:xfrm>
          <a:prstGeom prst="rect">
            <a:avLst/>
          </a:prstGeom>
          <a:solidFill>
            <a:srgbClr val="0E35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58200" y="192024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−72%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458200" y="28803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operator effort per deal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58200" y="32461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 min → ~12 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73152" cy="21031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420624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80×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85800" y="51663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document 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55321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vision vs. cloud LLM tokens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4069080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343400" y="4069080"/>
            <a:ext cx="73152" cy="2103120"/>
          </a:xfrm>
          <a:prstGeom prst="rect">
            <a:avLst/>
          </a:prstGeom>
          <a:solidFill>
            <a:srgbClr val="2C6E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0" y="420624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C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410m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4572000" y="51663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 incremental book / year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55321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avg R 285k finance ticket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4069080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229600" y="4069080"/>
            <a:ext cx="73152" cy="2103120"/>
          </a:xfrm>
          <a:prstGeom prst="rect">
            <a:avLst/>
          </a:prstGeom>
          <a:solidFill>
            <a:srgbClr val="0E35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58200" y="420624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 / 5</a:t>
            </a:r>
            <a:endParaRPr lang="en-US" sz="4800" dirty="0"/>
          </a:p>
        </p:txBody>
      </p:sp>
      <p:sp>
        <p:nvSpPr>
          <p:cNvPr id="33" name="Text 31"/>
          <p:cNvSpPr/>
          <p:nvPr/>
        </p:nvSpPr>
        <p:spPr>
          <a:xfrm>
            <a:off x="8458200" y="51663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NPS in early UAT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58200" y="55321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"Easier than buying a phone contract"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E3535"/>
          </a:solidFill>
          <a:ln w="12700">
            <a:solidFill>
              <a:srgbClr val="0E3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972800" y="66019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1D5D5"/>
          </a:solidFill>
          <a:ln w="12700">
            <a:solidFill>
              <a:srgbClr val="D1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REGULATED FINANCE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POPIA, NCA, FICA — designed in, not bolted 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371600" cy="1417320"/>
          </a:xfrm>
          <a:prstGeom prst="rect">
            <a:avLst/>
          </a:prstGeom>
          <a:solidFill>
            <a:srgbClr val="13404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371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6002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consent captured before any data collection. Right-to-erase + 7-year retention encoded in the deal lifecycle.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1371600" cy="14173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417320"/>
            <a:ext cx="1371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NCA affordability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0" y="16002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Disposable-income calculation follows NCR safe-instalment guidance; reasoning preserved with the file for audit.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1371600" cy="1417320"/>
          </a:xfrm>
          <a:prstGeom prst="rect">
            <a:avLst/>
          </a:prstGeom>
          <a:solidFill>
            <a:srgbClr val="0E35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1371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 / KYC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32004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ID validation, biometric face-match, address proof ≤ 90 days, RICA-aligned phone capture.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01752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3017520"/>
            <a:ext cx="1371600" cy="1417320"/>
          </a:xfrm>
          <a:prstGeom prst="rect">
            <a:avLst/>
          </a:prstGeom>
          <a:solidFill>
            <a:srgbClr val="2C6E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3017520"/>
            <a:ext cx="1371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residency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0" y="32004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buyer data persisted in Supabase EU-West (POPIA-equivalent jurisdiction). Optional move to SA AWS region.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1371600" cy="14173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1371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11680" y="48006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extraction, every cross-check, every operator click is timestamped + immutable. Full reconstruction of any decision.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461772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17920" y="4617720"/>
            <a:ext cx="1371600" cy="1417320"/>
          </a:xfrm>
          <a:prstGeom prst="rect">
            <a:avLst/>
          </a:prstGeom>
          <a:solidFill>
            <a:srgbClr val="13404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0" y="4617720"/>
            <a:ext cx="1371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controls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0" y="48006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Mindee, Cloudflare, Anthropic — all bound by DPAs. No PII used for model training. Vendor list one page, fully signed.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security review by [external pen-test partner] scheduled pre-launch.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34040"/>
          </a:solidFill>
          <a:ln w="12700">
            <a:solidFill>
              <a:srgbClr val="13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Claimtec · Private Deal AI-assisted finance assistant for bank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6019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E3535"/>
          </a:solidFill>
          <a:ln w="12700">
            <a:solidFill>
              <a:srgbClr val="0E3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ASKING FOR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deal — together.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1338560" cy="1005840"/>
          </a:xfrm>
          <a:prstGeom prst="rect">
            <a:avLst/>
          </a:prstGeom>
          <a:solidFill>
            <a:srgbClr val="0A2929"/>
          </a:solidFill>
          <a:ln w="12700">
            <a:solidFill>
              <a:srgbClr val="0E3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91440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828800" y="22677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approval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63347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UAT to live traffic on a controlled cohort: 50 deals / week for 4 weeks.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338560" cy="1005840"/>
          </a:xfrm>
          <a:prstGeom prst="rect">
            <a:avLst/>
          </a:prstGeom>
          <a:solidFill>
            <a:srgbClr val="0A2929"/>
          </a:solidFill>
          <a:ln w="12700">
            <a:solidFill>
              <a:srgbClr val="0E3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91440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828800" y="34107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Disbursement API access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377647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 dashboard "Approve" button to bank's payout system — close the loop end-to-end.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11338560" cy="1005840"/>
          </a:xfrm>
          <a:prstGeom prst="rect">
            <a:avLst/>
          </a:prstGeom>
          <a:solidFill>
            <a:srgbClr val="0A2929"/>
          </a:solidFill>
          <a:ln w="12700">
            <a:solidFill>
              <a:srgbClr val="0E3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91440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828800" y="45537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pod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28800" y="491947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underwriters + 1 ops lead, embedded for the pilot. Average load: &lt; 30 min per deal end-to-end.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715000"/>
            <a:ext cx="11338560" cy="640080"/>
          </a:xfrm>
          <a:prstGeom prst="rect">
            <a:avLst/>
          </a:prstGeom>
          <a:solidFill>
            <a:srgbClr val="0A2929"/>
          </a:solidFill>
          <a:ln w="12700">
            <a:solidFill>
              <a:srgbClr val="0E3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5715000"/>
            <a:ext cx="73152" cy="640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571500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live in 30 days · First disbursement in 45 days · Run-rate of 1 000 deals / month by month 6.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2424"/>
          </a:solidFill>
          <a:ln w="12700">
            <a:solidFill>
              <a:srgbClr val="0A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6601968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Claimtec · prepared by Dineshan Chetty · </a:t>
            </a:r>
            <a:r>
              <a:rPr lang="en-US" sz="900" dirty="0" err="1">
                <a:solidFill>
                  <a:srgbClr val="C9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Dineshan@claimtec.co.za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6019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3535"/>
      </a:dk2>
      <a:lt2>
        <a:srgbClr val="EAEEEE"/>
      </a:lt2>
      <a:accent1>
        <a:srgbClr val="0E3535"/>
      </a:accent1>
      <a:accent2>
        <a:srgbClr val="E63946"/>
      </a:accent2>
      <a:accent3>
        <a:srgbClr val="808B8B"/>
      </a:accent3>
      <a:accent4>
        <a:srgbClr val="2C6E6E"/>
      </a:accent4>
      <a:accent5>
        <a:srgbClr val="2C6E6E"/>
      </a:accent5>
      <a:accent6>
        <a:srgbClr val="E63946"/>
      </a:accent6>
      <a:hlink>
        <a:srgbClr val="2C6E6E"/>
      </a:hlink>
      <a:folHlink>
        <a:srgbClr val="5E6E6E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1770</Words>
  <Application>Microsoft Macintosh PowerPoint</Application>
  <PresentationFormat>Widescreen</PresentationFormat>
  <Paragraphs>328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Dineshan Chetty</cp:lastModifiedBy>
  <cp:revision>2</cp:revision>
  <cp:lastPrinted>2026-06-03T17:11:31Z</cp:lastPrinted>
  <dcterms:created xsi:type="dcterms:W3CDTF">2026-05-24T22:22:03Z</dcterms:created>
  <dcterms:modified xsi:type="dcterms:W3CDTF">2026-06-03T17:11:34Z</dcterms:modified>
</cp:coreProperties>
</file>